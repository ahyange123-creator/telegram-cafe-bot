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30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5236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introduces themselves. Read the hook question aloud and pause for 5 seconds to let the audience think about how they would answer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everyday problem. Emphasize that we sort all the time in daily life — cards, contacts, prices, scores — and computers do the same, but need a clear procedure to follow.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aloud. Then walk through each of the four key properties — these are the anchors your audience needs to remember.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pass slowly. Emphasize what the algorithm 'sees' at each step. Ask the audience to verify the last pass — pass 4 has no swap because 25 is already the smallest in its position.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Follow the arrows: Start → Input → i = 0 → outer loop check → inner setup → inner loop → swap check → back to outer. Point out the two return arrows on the sides. Emphasize the shapes and what they represent.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pseudocode aloud line by line. Tie each block back to the flowchart from the previous slide: outer FOR = outer loop diamond, inner FOR = inner loop diamond, SWAP = the swap process box.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number of comparisons is the same — both are O(n²). The real difference is the number of swaps. This connects directly to the next slide about where fewer swaps matter.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concrete example for each card. Warehouse: think of a distribution center. Flash memory: SSDs have limited write cycles. Databases: big rows, many fields. Robotics: automated pick-and-place systems in factories.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complexity table quickly. Deliver the conclusion with conviction.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a:effectLst/>
      </p:bgPr>
    </p:bg>
    <p:spTree>
      <p:nvGrpSpPr>
        <p:cNvPr id="1" name=""/>
        <p:cNvGrpSpPr/>
        <p:nvPr/>
      </p:nvGrpSpPr>
      <p:grpSpPr>
        <a:xfrm>
          <a:off x="0" y="0"/>
          <a:ext cx="0" cy="0"/>
          <a:chOff x="0" y="0"/>
          <a:chExt cx="0" cy="0"/>
        </a:xfrm>
      </p:grpSpPr>
      <p:sp>
        <p:nvSpPr>
          <p:cNvPr id="2" name="Text 0"/>
          <p:cNvSpPr/>
          <p:nvPr/>
        </p:nvSpPr>
        <p:spPr>
          <a:xfrm>
            <a:off x="731520" y="640080"/>
            <a:ext cx="10972800" cy="365760"/>
          </a:xfrm>
          <a:prstGeom prst="rect">
            <a:avLst/>
          </a:prstGeom>
          <a:noFill/>
          <a:ln/>
        </p:spPr>
        <p:txBody>
          <a:bodyPr wrap="square" rtlCol="0" anchor="ctr"/>
          <a:lstStyle/>
          <a:p>
            <a:pPr marL="0" indent="0">
              <a:buNone/>
            </a:pPr>
            <a:r>
              <a:rPr lang="en-US" sz="1200" b="1" kern="0" spc="400" dirty="0">
                <a:solidFill>
                  <a:srgbClr val="CADCFC"/>
                </a:solidFill>
                <a:latin typeface="Calibri" pitchFamily="34" charset="0"/>
                <a:ea typeface="Calibri" pitchFamily="34" charset="-122"/>
                <a:cs typeface="Calibri" pitchFamily="34" charset="-120"/>
              </a:rPr>
              <a:t>ALGORITHM RESEARCH  ·  GROUP 4</a:t>
            </a:r>
            <a:endParaRPr lang="en-US" sz="1200" dirty="0"/>
          </a:p>
        </p:txBody>
      </p:sp>
      <p:sp>
        <p:nvSpPr>
          <p:cNvPr id="3" name="Shape 1"/>
          <p:cNvSpPr/>
          <p:nvPr/>
        </p:nvSpPr>
        <p:spPr>
          <a:xfrm>
            <a:off x="731520" y="1097280"/>
            <a:ext cx="731520" cy="36576"/>
          </a:xfrm>
          <a:prstGeom prst="rect">
            <a:avLst/>
          </a:prstGeom>
          <a:solidFill>
            <a:srgbClr val="CADCFC"/>
          </a:solidFill>
          <a:ln w="12700">
            <a:solidFill>
              <a:srgbClr val="CADCFC"/>
            </a:solidFill>
            <a:prstDash val="solid"/>
          </a:ln>
        </p:spPr>
      </p:sp>
      <p:sp>
        <p:nvSpPr>
          <p:cNvPr id="4" name="Text 2"/>
          <p:cNvSpPr/>
          <p:nvPr/>
        </p:nvSpPr>
        <p:spPr>
          <a:xfrm>
            <a:off x="731520" y="1371600"/>
            <a:ext cx="10972800" cy="1645920"/>
          </a:xfrm>
          <a:prstGeom prst="rect">
            <a:avLst/>
          </a:prstGeom>
          <a:noFill/>
          <a:ln/>
        </p:spPr>
        <p:txBody>
          <a:bodyPr wrap="square" rtlCol="0" anchor="ctr"/>
          <a:lstStyle/>
          <a:p>
            <a:pPr marL="0" indent="0">
              <a:buNone/>
            </a:pPr>
            <a:r>
              <a:rPr lang="en-US" sz="8400" b="1" dirty="0">
                <a:solidFill>
                  <a:srgbClr val="FFFFFF"/>
                </a:solidFill>
                <a:latin typeface="Cambria" pitchFamily="34" charset="0"/>
                <a:ea typeface="Cambria" pitchFamily="34" charset="-122"/>
                <a:cs typeface="Cambria" pitchFamily="34" charset="-120"/>
              </a:rPr>
              <a:t>Selection Sort</a:t>
            </a:r>
            <a:endParaRPr lang="en-US" sz="8400" dirty="0"/>
          </a:p>
        </p:txBody>
      </p:sp>
      <p:sp>
        <p:nvSpPr>
          <p:cNvPr id="5" name="Text 3"/>
          <p:cNvSpPr/>
          <p:nvPr/>
        </p:nvSpPr>
        <p:spPr>
          <a:xfrm>
            <a:off x="731520" y="3108960"/>
            <a:ext cx="10058400" cy="640080"/>
          </a:xfrm>
          <a:prstGeom prst="rect">
            <a:avLst/>
          </a:prstGeom>
          <a:noFill/>
          <a:ln/>
        </p:spPr>
        <p:txBody>
          <a:bodyPr wrap="square" rtlCol="0" anchor="ctr"/>
          <a:lstStyle/>
          <a:p>
            <a:pPr marL="0" indent="0">
              <a:buNone/>
            </a:pPr>
            <a:r>
              <a:rPr lang="en-US" sz="2400" i="1" dirty="0">
                <a:solidFill>
                  <a:srgbClr val="CADCFC"/>
                </a:solidFill>
                <a:latin typeface="Cambria" pitchFamily="34" charset="0"/>
                <a:ea typeface="Cambria" pitchFamily="34" charset="-122"/>
                <a:cs typeface="Cambria" pitchFamily="34" charset="-120"/>
              </a:rPr>
              <a:t>Understanding the logic through flowcharts and pseudocode</a:t>
            </a:r>
            <a:endParaRPr lang="en-US" sz="2400" dirty="0"/>
          </a:p>
        </p:txBody>
      </p:sp>
      <p:sp>
        <p:nvSpPr>
          <p:cNvPr id="6" name="Text 4"/>
          <p:cNvSpPr/>
          <p:nvPr/>
        </p:nvSpPr>
        <p:spPr>
          <a:xfrm>
            <a:off x="731520" y="4114800"/>
            <a:ext cx="10515600" cy="1005840"/>
          </a:xfrm>
          <a:prstGeom prst="rect">
            <a:avLst/>
          </a:prstGeom>
          <a:noFill/>
          <a:ln/>
        </p:spPr>
        <p:txBody>
          <a:bodyPr wrap="square" rtlCol="0" anchor="t"/>
          <a:lstStyle/>
          <a:p>
            <a:pPr marL="0" indent="0">
              <a:buNone/>
            </a:pPr>
            <a:r>
              <a:rPr lang="en-US" sz="4000" i="1" dirty="0">
                <a:solidFill>
                  <a:srgbClr val="CADCFC"/>
                </a:solidFill>
                <a:latin typeface="Cambria" pitchFamily="34" charset="0"/>
                <a:ea typeface="Cambria" pitchFamily="34" charset="-122"/>
                <a:cs typeface="Cambria" pitchFamily="34" charset="-120"/>
              </a:rPr>
              <a:t>“</a:t>
            </a:r>
            <a:r>
              <a:rPr lang="en-US" sz="2000" i="1" dirty="0">
                <a:solidFill>
                  <a:srgbClr val="FFFFFF"/>
                </a:solidFill>
                <a:latin typeface="Cambria" pitchFamily="34" charset="0"/>
                <a:ea typeface="Cambria" pitchFamily="34" charset="-122"/>
                <a:cs typeface="Cambria" pitchFamily="34" charset="-120"/>
              </a:rPr>
              <a:t>If you had to sort cards by always picking the smallest one left, how would you do it?</a:t>
            </a:r>
            <a:r>
              <a:rPr lang="en-US" sz="4000" i="1" dirty="0">
                <a:solidFill>
                  <a:srgbClr val="CADCFC"/>
                </a:solidFill>
                <a:latin typeface="Cambria" pitchFamily="34" charset="0"/>
                <a:ea typeface="Cambria" pitchFamily="34" charset="-122"/>
                <a:cs typeface="Cambria" pitchFamily="34" charset="-120"/>
              </a:rPr>
              <a:t>”</a:t>
            </a:r>
            <a:endParaRPr lang="en-US" sz="4000" dirty="0"/>
          </a:p>
        </p:txBody>
      </p:sp>
      <p:sp>
        <p:nvSpPr>
          <p:cNvPr id="7" name="Text 5"/>
          <p:cNvSpPr/>
          <p:nvPr/>
        </p:nvSpPr>
        <p:spPr>
          <a:xfrm>
            <a:off x="731520" y="5852160"/>
            <a:ext cx="106984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Rothana  ·  Dara  ·  Deth  ·  Lyheng  ·  Samnang</a:t>
            </a:r>
            <a:endParaRPr lang="en-US" sz="1400" dirty="0"/>
          </a:p>
        </p:txBody>
      </p:sp>
      <p:sp>
        <p:nvSpPr>
          <p:cNvPr id="8" name="Text 6"/>
          <p:cNvSpPr/>
          <p:nvPr/>
        </p:nvSpPr>
        <p:spPr>
          <a:xfrm>
            <a:off x="731520" y="6172200"/>
            <a:ext cx="1069848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Programming Fundamentals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The everyday problem of sorting</a:t>
            </a:r>
            <a:endParaRPr lang="en-US" sz="3400" dirty="0"/>
          </a:p>
        </p:txBody>
      </p:sp>
      <p:sp>
        <p:nvSpPr>
          <p:cNvPr id="3" name="Shape 1"/>
          <p:cNvSpPr/>
          <p:nvPr/>
        </p:nvSpPr>
        <p:spPr>
          <a:xfrm>
            <a:off x="731520" y="1463040"/>
            <a:ext cx="5120640" cy="4754880"/>
          </a:xfrm>
          <a:prstGeom prst="roundRect">
            <a:avLst>
              <a:gd name="adj" fmla="val 2885"/>
            </a:avLst>
          </a:prstGeom>
          <a:solidFill>
            <a:srgbClr val="1E2761"/>
          </a:solidFill>
          <a:ln w="12700">
            <a:solidFill>
              <a:srgbClr val="1E2761"/>
            </a:solidFill>
            <a:prstDash val="solid"/>
          </a:ln>
        </p:spPr>
      </p:sp>
      <p:sp>
        <p:nvSpPr>
          <p:cNvPr id="4" name="Text 2"/>
          <p:cNvSpPr/>
          <p:nvPr/>
        </p:nvSpPr>
        <p:spPr>
          <a:xfrm>
            <a:off x="914400" y="1554480"/>
            <a:ext cx="914400" cy="914400"/>
          </a:xfrm>
          <a:prstGeom prst="rect">
            <a:avLst/>
          </a:prstGeom>
          <a:noFill/>
          <a:ln/>
        </p:spPr>
        <p:txBody>
          <a:bodyPr wrap="square" rtlCol="0" anchor="ctr"/>
          <a:lstStyle/>
          <a:p>
            <a:pPr marL="0" indent="0">
              <a:buNone/>
            </a:pPr>
            <a:r>
              <a:rPr lang="en-US" sz="8000" b="1" i="1" dirty="0">
                <a:solidFill>
                  <a:srgbClr val="CADCFC"/>
                </a:solidFill>
                <a:latin typeface="Cambria" pitchFamily="34" charset="0"/>
                <a:ea typeface="Cambria" pitchFamily="34" charset="-122"/>
                <a:cs typeface="Cambria" pitchFamily="34" charset="-120"/>
              </a:rPr>
              <a:t>“</a:t>
            </a:r>
            <a:endParaRPr lang="en-US" sz="8000" dirty="0"/>
          </a:p>
        </p:txBody>
      </p:sp>
      <p:sp>
        <p:nvSpPr>
          <p:cNvPr id="5" name="Text 3"/>
          <p:cNvSpPr/>
          <p:nvPr/>
        </p:nvSpPr>
        <p:spPr>
          <a:xfrm>
            <a:off x="914400" y="2468880"/>
            <a:ext cx="4754880" cy="2743200"/>
          </a:xfrm>
          <a:prstGeom prst="rect">
            <a:avLst/>
          </a:prstGeom>
          <a:noFill/>
          <a:ln/>
        </p:spPr>
        <p:txBody>
          <a:bodyPr wrap="square" rtlCol="0" anchor="t"/>
          <a:lstStyle/>
          <a:p>
            <a:pPr marL="0" indent="0">
              <a:buNone/>
            </a:pPr>
            <a:r>
              <a:rPr lang="en-US" sz="2200" i="1" dirty="0">
                <a:solidFill>
                  <a:srgbClr val="FFFFFF"/>
                </a:solidFill>
                <a:latin typeface="Cambria" pitchFamily="34" charset="0"/>
                <a:ea typeface="Cambria" pitchFamily="34" charset="-122"/>
                <a:cs typeface="Cambria" pitchFamily="34" charset="-120"/>
              </a:rPr>
              <a:t>If you had to sort cards by always picking the smallest one left, how would you do it?</a:t>
            </a:r>
            <a:endParaRPr lang="en-US" sz="2200" dirty="0"/>
          </a:p>
        </p:txBody>
      </p:sp>
      <p:sp>
        <p:nvSpPr>
          <p:cNvPr id="6" name="Text 4"/>
          <p:cNvSpPr/>
          <p:nvPr/>
        </p:nvSpPr>
        <p:spPr>
          <a:xfrm>
            <a:off x="914400" y="5577840"/>
            <a:ext cx="4754880" cy="36576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 The hook question</a:t>
            </a:r>
            <a:endParaRPr lang="en-US" sz="1200" dirty="0"/>
          </a:p>
        </p:txBody>
      </p:sp>
      <p:sp>
        <p:nvSpPr>
          <p:cNvPr id="7" name="Text 5"/>
          <p:cNvSpPr/>
          <p:nvPr/>
        </p:nvSpPr>
        <p:spPr>
          <a:xfrm>
            <a:off x="6400800" y="1463040"/>
            <a:ext cx="5212080" cy="45720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 natural human strategy</a:t>
            </a:r>
            <a:endParaRPr lang="en-US" sz="2000" dirty="0"/>
          </a:p>
        </p:txBody>
      </p:sp>
      <p:sp>
        <p:nvSpPr>
          <p:cNvPr id="8" name="Text 6"/>
          <p:cNvSpPr/>
          <p:nvPr/>
        </p:nvSpPr>
        <p:spPr>
          <a:xfrm>
            <a:off x="6400800" y="2011680"/>
            <a:ext cx="5212080" cy="4206240"/>
          </a:xfrm>
          <a:prstGeom prst="rect">
            <a:avLst/>
          </a:prstGeom>
          <a:noFill/>
          <a:ln/>
        </p:spPr>
        <p:txBody>
          <a:bodyPr wrap="square" rtlCol="0" anchor="t"/>
          <a:lstStyle/>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Imagine a hand of playing cards in random order. To sort them, you might scan the whole hand, find the smallest card, and place it at the front.</a:t>
            </a:r>
            <a:endParaRPr lang="en-US" sz="1500" dirty="0"/>
          </a:p>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Then repeat the process for the remaining cards until every card is in place.</a:t>
            </a:r>
            <a:endParaRPr lang="en-US" sz="1500" dirty="0"/>
          </a:p>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This is exactly what Selection Sort does — a computer version of a natural human sorting strategy.</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Sorting matters because searching, reporting, and decision-making all become faster on ordered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What is Selection Sort?</a:t>
            </a:r>
            <a:endParaRPr lang="en-US" sz="3400" dirty="0"/>
          </a:p>
        </p:txBody>
      </p:sp>
      <p:sp>
        <p:nvSpPr>
          <p:cNvPr id="3" name="Shape 1"/>
          <p:cNvSpPr/>
          <p:nvPr/>
        </p:nvSpPr>
        <p:spPr>
          <a:xfrm>
            <a:off x="731520" y="1371600"/>
            <a:ext cx="10698480" cy="1188720"/>
          </a:xfrm>
          <a:prstGeom prst="roundRect">
            <a:avLst>
              <a:gd name="adj" fmla="val 7692"/>
            </a:avLst>
          </a:prstGeom>
          <a:solidFill>
            <a:srgbClr val="E4EDFC"/>
          </a:solidFill>
          <a:ln w="12700">
            <a:solidFill>
              <a:srgbClr val="CADCFC"/>
            </a:solidFill>
            <a:prstDash val="solid"/>
          </a:ln>
        </p:spPr>
      </p:sp>
      <p:sp>
        <p:nvSpPr>
          <p:cNvPr id="4" name="Text 2"/>
          <p:cNvSpPr/>
          <p:nvPr/>
        </p:nvSpPr>
        <p:spPr>
          <a:xfrm>
            <a:off x="1005840" y="1508760"/>
            <a:ext cx="10149840" cy="9144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Definition.  </a:t>
            </a:r>
            <a:r>
              <a:rPr lang="en-US" sz="1600" dirty="0">
                <a:solidFill>
                  <a:srgbClr val="1F2937"/>
                </a:solidFill>
                <a:latin typeface="Calibri" pitchFamily="34" charset="0"/>
                <a:ea typeface="Calibri" pitchFamily="34" charset="-122"/>
                <a:cs typeface="Calibri" pitchFamily="34" charset="-120"/>
              </a:rPr>
              <a:t>A comparison-based sorting algorithm that arranges a list in order by repeatedly finding the smallest remaining element and placing it at the beginning of the unsorted portion.</a:t>
            </a:r>
            <a:endParaRPr lang="en-US" sz="1800" dirty="0"/>
          </a:p>
        </p:txBody>
      </p:sp>
      <p:sp>
        <p:nvSpPr>
          <p:cNvPr id="5" name="Shape 3"/>
          <p:cNvSpPr/>
          <p:nvPr/>
        </p:nvSpPr>
        <p:spPr>
          <a:xfrm>
            <a:off x="731520" y="2926080"/>
            <a:ext cx="2606040" cy="3291840"/>
          </a:xfrm>
          <a:prstGeom prst="roundRect">
            <a:avLst>
              <a:gd name="adj" fmla="val 2807"/>
            </a:avLst>
          </a:prstGeom>
          <a:solidFill>
            <a:srgbClr val="F8F9FB"/>
          </a:solidFill>
          <a:ln w="12700">
            <a:solidFill>
              <a:srgbClr val="E5E7EB"/>
            </a:solidFill>
            <a:prstDash val="solid"/>
          </a:ln>
        </p:spPr>
      </p:sp>
      <p:sp>
        <p:nvSpPr>
          <p:cNvPr id="6" name="Shape 4"/>
          <p:cNvSpPr/>
          <p:nvPr/>
        </p:nvSpPr>
        <p:spPr>
          <a:xfrm>
            <a:off x="960120" y="3200400"/>
            <a:ext cx="640080" cy="640080"/>
          </a:xfrm>
          <a:prstGeom prst="ellipse">
            <a:avLst/>
          </a:prstGeom>
          <a:solidFill>
            <a:srgbClr val="1E2761"/>
          </a:solidFill>
          <a:ln w="12700">
            <a:solidFill>
              <a:srgbClr val="1E2761"/>
            </a:solidFill>
            <a:prstDash val="solid"/>
          </a:ln>
        </p:spPr>
      </p:sp>
      <p:sp>
        <p:nvSpPr>
          <p:cNvPr id="7" name="Text 5"/>
          <p:cNvSpPr/>
          <p:nvPr/>
        </p:nvSpPr>
        <p:spPr>
          <a:xfrm>
            <a:off x="960120" y="3200400"/>
            <a:ext cx="64008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8" name="Text 6"/>
          <p:cNvSpPr/>
          <p:nvPr/>
        </p:nvSpPr>
        <p:spPr>
          <a:xfrm>
            <a:off x="914400" y="3977640"/>
            <a:ext cx="2240280" cy="82296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Works in rounds</a:t>
            </a:r>
            <a:endParaRPr lang="en-US" sz="1700" dirty="0"/>
          </a:p>
        </p:txBody>
      </p:sp>
      <p:sp>
        <p:nvSpPr>
          <p:cNvPr id="9" name="Text 7"/>
          <p:cNvSpPr/>
          <p:nvPr/>
        </p:nvSpPr>
        <p:spPr>
          <a:xfrm>
            <a:off x="914400" y="4800600"/>
            <a:ext cx="2240280" cy="128016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One element becomes sorted after each pass.</a:t>
            </a:r>
            <a:endParaRPr lang="en-US" sz="1300" dirty="0"/>
          </a:p>
        </p:txBody>
      </p:sp>
      <p:sp>
        <p:nvSpPr>
          <p:cNvPr id="10" name="Shape 8"/>
          <p:cNvSpPr/>
          <p:nvPr/>
        </p:nvSpPr>
        <p:spPr>
          <a:xfrm>
            <a:off x="3474720" y="2926080"/>
            <a:ext cx="2606040" cy="3291840"/>
          </a:xfrm>
          <a:prstGeom prst="roundRect">
            <a:avLst>
              <a:gd name="adj" fmla="val 2807"/>
            </a:avLst>
          </a:prstGeom>
          <a:solidFill>
            <a:srgbClr val="F8F9FB"/>
          </a:solidFill>
          <a:ln w="12700">
            <a:solidFill>
              <a:srgbClr val="E5E7EB"/>
            </a:solidFill>
            <a:prstDash val="solid"/>
          </a:ln>
        </p:spPr>
      </p:sp>
      <p:sp>
        <p:nvSpPr>
          <p:cNvPr id="11" name="Shape 9"/>
          <p:cNvSpPr/>
          <p:nvPr/>
        </p:nvSpPr>
        <p:spPr>
          <a:xfrm>
            <a:off x="3703320" y="3200400"/>
            <a:ext cx="640080" cy="640080"/>
          </a:xfrm>
          <a:prstGeom prst="ellipse">
            <a:avLst/>
          </a:prstGeom>
          <a:solidFill>
            <a:srgbClr val="1E2761"/>
          </a:solidFill>
          <a:ln w="12700">
            <a:solidFill>
              <a:srgbClr val="1E2761"/>
            </a:solidFill>
            <a:prstDash val="solid"/>
          </a:ln>
        </p:spPr>
      </p:sp>
      <p:sp>
        <p:nvSpPr>
          <p:cNvPr id="12" name="Text 10"/>
          <p:cNvSpPr/>
          <p:nvPr/>
        </p:nvSpPr>
        <p:spPr>
          <a:xfrm>
            <a:off x="3703320" y="3200400"/>
            <a:ext cx="64008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3" name="Text 11"/>
          <p:cNvSpPr/>
          <p:nvPr/>
        </p:nvSpPr>
        <p:spPr>
          <a:xfrm>
            <a:off x="3657600" y="3977640"/>
            <a:ext cx="2240280" cy="82296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One minimum per round</a:t>
            </a:r>
            <a:endParaRPr lang="en-US" sz="1700" dirty="0"/>
          </a:p>
        </p:txBody>
      </p:sp>
      <p:sp>
        <p:nvSpPr>
          <p:cNvPr id="14" name="Text 12"/>
          <p:cNvSpPr/>
          <p:nvPr/>
        </p:nvSpPr>
        <p:spPr>
          <a:xfrm>
            <a:off x="3657600" y="4800600"/>
            <a:ext cx="2240280" cy="128016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Each pass performs one full scan of the unsorted portion.</a:t>
            </a:r>
            <a:endParaRPr lang="en-US" sz="1300" dirty="0"/>
          </a:p>
        </p:txBody>
      </p:sp>
      <p:sp>
        <p:nvSpPr>
          <p:cNvPr id="15" name="Shape 13"/>
          <p:cNvSpPr/>
          <p:nvPr/>
        </p:nvSpPr>
        <p:spPr>
          <a:xfrm>
            <a:off x="6217920" y="2926080"/>
            <a:ext cx="2606040" cy="3291840"/>
          </a:xfrm>
          <a:prstGeom prst="roundRect">
            <a:avLst>
              <a:gd name="adj" fmla="val 2807"/>
            </a:avLst>
          </a:prstGeom>
          <a:solidFill>
            <a:srgbClr val="F8F9FB"/>
          </a:solidFill>
          <a:ln w="12700">
            <a:solidFill>
              <a:srgbClr val="E5E7EB"/>
            </a:solidFill>
            <a:prstDash val="solid"/>
          </a:ln>
        </p:spPr>
      </p:sp>
      <p:sp>
        <p:nvSpPr>
          <p:cNvPr id="16" name="Shape 14"/>
          <p:cNvSpPr/>
          <p:nvPr/>
        </p:nvSpPr>
        <p:spPr>
          <a:xfrm>
            <a:off x="6446520" y="3200400"/>
            <a:ext cx="640080" cy="640080"/>
          </a:xfrm>
          <a:prstGeom prst="ellipse">
            <a:avLst/>
          </a:prstGeom>
          <a:solidFill>
            <a:srgbClr val="1E2761"/>
          </a:solidFill>
          <a:ln w="12700">
            <a:solidFill>
              <a:srgbClr val="1E2761"/>
            </a:solidFill>
            <a:prstDash val="solid"/>
          </a:ln>
        </p:spPr>
      </p:sp>
      <p:sp>
        <p:nvSpPr>
          <p:cNvPr id="17" name="Text 15"/>
          <p:cNvSpPr/>
          <p:nvPr/>
        </p:nvSpPr>
        <p:spPr>
          <a:xfrm>
            <a:off x="6446520" y="3200400"/>
            <a:ext cx="64008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8" name="Text 16"/>
          <p:cNvSpPr/>
          <p:nvPr/>
        </p:nvSpPr>
        <p:spPr>
          <a:xfrm>
            <a:off x="6400800" y="3977640"/>
            <a:ext cx="2240280" cy="82296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At most one swap</a:t>
            </a:r>
            <a:endParaRPr lang="en-US" sz="1700" dirty="0"/>
          </a:p>
        </p:txBody>
      </p:sp>
      <p:sp>
        <p:nvSpPr>
          <p:cNvPr id="19" name="Text 17"/>
          <p:cNvSpPr/>
          <p:nvPr/>
        </p:nvSpPr>
        <p:spPr>
          <a:xfrm>
            <a:off x="6400800" y="4800600"/>
            <a:ext cx="2240280" cy="128016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Each pass performs at most one swap, unlike Bubble Sort.</a:t>
            </a:r>
            <a:endParaRPr lang="en-US" sz="1300" dirty="0"/>
          </a:p>
        </p:txBody>
      </p:sp>
      <p:sp>
        <p:nvSpPr>
          <p:cNvPr id="20" name="Shape 18"/>
          <p:cNvSpPr/>
          <p:nvPr/>
        </p:nvSpPr>
        <p:spPr>
          <a:xfrm>
            <a:off x="8961120" y="2926080"/>
            <a:ext cx="2606040" cy="3291840"/>
          </a:xfrm>
          <a:prstGeom prst="roundRect">
            <a:avLst>
              <a:gd name="adj" fmla="val 2807"/>
            </a:avLst>
          </a:prstGeom>
          <a:solidFill>
            <a:srgbClr val="F8F9FB"/>
          </a:solidFill>
          <a:ln w="12700">
            <a:solidFill>
              <a:srgbClr val="E5E7EB"/>
            </a:solidFill>
            <a:prstDash val="solid"/>
          </a:ln>
        </p:spPr>
      </p:sp>
      <p:sp>
        <p:nvSpPr>
          <p:cNvPr id="21" name="Shape 19"/>
          <p:cNvSpPr/>
          <p:nvPr/>
        </p:nvSpPr>
        <p:spPr>
          <a:xfrm>
            <a:off x="9189720" y="3200400"/>
            <a:ext cx="640080" cy="640080"/>
          </a:xfrm>
          <a:prstGeom prst="ellipse">
            <a:avLst/>
          </a:prstGeom>
          <a:solidFill>
            <a:srgbClr val="1E2761"/>
          </a:solidFill>
          <a:ln w="12700">
            <a:solidFill>
              <a:srgbClr val="1E2761"/>
            </a:solidFill>
            <a:prstDash val="solid"/>
          </a:ln>
        </p:spPr>
      </p:sp>
      <p:sp>
        <p:nvSpPr>
          <p:cNvPr id="22" name="Text 20"/>
          <p:cNvSpPr/>
          <p:nvPr/>
        </p:nvSpPr>
        <p:spPr>
          <a:xfrm>
            <a:off x="9189720" y="3200400"/>
            <a:ext cx="64008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3" name="Text 21"/>
          <p:cNvSpPr/>
          <p:nvPr/>
        </p:nvSpPr>
        <p:spPr>
          <a:xfrm>
            <a:off x="9144000" y="3977640"/>
            <a:ext cx="2240280" cy="82296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Two portions</a:t>
            </a:r>
            <a:endParaRPr lang="en-US" sz="1700" dirty="0"/>
          </a:p>
        </p:txBody>
      </p:sp>
      <p:sp>
        <p:nvSpPr>
          <p:cNvPr id="24" name="Text 22"/>
          <p:cNvSpPr/>
          <p:nvPr/>
        </p:nvSpPr>
        <p:spPr>
          <a:xfrm>
            <a:off x="9144000" y="4800600"/>
            <a:ext cx="2240280" cy="128016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A sorted left side that grows, and an unsorted right side that shrinks.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Step-by-step trace</a:t>
            </a:r>
            <a:endParaRPr lang="en-US" sz="3400" dirty="0"/>
          </a:p>
        </p:txBody>
      </p:sp>
      <p:sp>
        <p:nvSpPr>
          <p:cNvPr id="3" name="Text 1"/>
          <p:cNvSpPr/>
          <p:nvPr/>
        </p:nvSpPr>
        <p:spPr>
          <a:xfrm>
            <a:off x="731520" y="1097280"/>
            <a:ext cx="10972800" cy="36576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Sorting the list [64, 25, 12, 22, 11]</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6984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Unsorted portion</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Minimum found</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List after this pass</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[64, 25, 12, 22, 11]</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[11, 25, 12, 22,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9FB"/>
                    </a:solidFill>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[25, 12, 22,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[11, 12, 25, 22,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9FB"/>
                    </a:solidFill>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[25, 22,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[11, 12, 22, 25,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9FB"/>
                    </a:solidFill>
                  </a:tcPr>
                </a:tc>
                <a:extLst>
                  <a:ext uri="{0D108BD9-81ED-4DB2-BD59-A6C34878D82A}">
                    <a16:rowId xmlns:a16="http://schemas.microsoft.com/office/drawing/2014/main" val="10003"/>
                  </a:ext>
                </a:extLst>
              </a:tr>
              <a:tr h="502920">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dirty="0">
                          <a:solidFill>
                            <a:srgbClr val="1F2937"/>
                          </a:solidFill>
                          <a:latin typeface="Consolas" pitchFamily="34" charset="0"/>
                          <a:ea typeface="Consolas" pitchFamily="34" charset="-122"/>
                          <a:cs typeface="Consolas" pitchFamily="34" charset="-120"/>
                        </a:rPr>
                        <a:t>[25,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b="1" dirty="0">
                          <a:solidFill>
                            <a:srgbClr val="6B7280"/>
                          </a:solidFill>
                          <a:latin typeface="Calibri" pitchFamily="34" charset="0"/>
                          <a:ea typeface="Calibri" pitchFamily="34" charset="-122"/>
                          <a:cs typeface="Calibri" pitchFamily="34" charset="-120"/>
                        </a:rPr>
                        <a:t>25 (no swap)</a:t>
                      </a:r>
                      <a:endParaRPr lang="en-US" sz="14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400" b="1" dirty="0">
                          <a:solidFill>
                            <a:srgbClr val="1F2937"/>
                          </a:solidFill>
                          <a:latin typeface="Consolas" pitchFamily="34" charset="0"/>
                          <a:ea typeface="Consolas" pitchFamily="34" charset="-122"/>
                          <a:cs typeface="Consolas" pitchFamily="34" charset="-120"/>
                        </a:rPr>
                        <a:t>[11, 12, 22, 25, 64]</a:t>
                      </a:r>
                      <a:endParaRPr lang="en-US" sz="1400" dirty="0">
                        <a:latin typeface="Consolas" charset="0"/>
                        <a:ea typeface="Consolas" charset="0"/>
                        <a:cs typeface="Consolas"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9FB"/>
                    </a:solidFill>
                  </a:tcPr>
                </a:tc>
                <a:extLst>
                  <a:ext uri="{0D108BD9-81ED-4DB2-BD59-A6C34878D82A}">
                    <a16:rowId xmlns:a16="http://schemas.microsoft.com/office/drawing/2014/main" val="10004"/>
                  </a:ext>
                </a:extLst>
              </a:tr>
            </a:tbl>
          </a:graphicData>
        </a:graphic>
      </p:graphicFrame>
      <p:sp>
        <p:nvSpPr>
          <p:cNvPr id="4" name="Shape 2"/>
          <p:cNvSpPr/>
          <p:nvPr/>
        </p:nvSpPr>
        <p:spPr>
          <a:xfrm>
            <a:off x="731520" y="5029200"/>
            <a:ext cx="10698480" cy="1188720"/>
          </a:xfrm>
          <a:prstGeom prst="roundRect">
            <a:avLst>
              <a:gd name="adj" fmla="val 7692"/>
            </a:avLst>
          </a:prstGeom>
          <a:solidFill>
            <a:srgbClr val="FFF8E1"/>
          </a:solidFill>
          <a:ln w="12700">
            <a:solidFill>
              <a:srgbClr val="B45309"/>
            </a:solidFill>
            <a:prstDash val="solid"/>
          </a:ln>
        </p:spPr>
      </p:sp>
      <p:sp>
        <p:nvSpPr>
          <p:cNvPr id="6" name="Text 3"/>
          <p:cNvSpPr/>
          <p:nvPr/>
        </p:nvSpPr>
        <p:spPr>
          <a:xfrm>
            <a:off x="1005840" y="5166360"/>
            <a:ext cx="10149840" cy="914400"/>
          </a:xfrm>
          <a:prstGeom prst="rect">
            <a:avLst/>
          </a:prstGeom>
          <a:noFill/>
          <a:ln/>
        </p:spPr>
        <p:txBody>
          <a:bodyPr wrap="square"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Key insight.  </a:t>
            </a:r>
            <a:r>
              <a:rPr lang="en-US" sz="1500" dirty="0">
                <a:solidFill>
                  <a:srgbClr val="1F2937"/>
                </a:solidFill>
                <a:latin typeface="Calibri" pitchFamily="34" charset="0"/>
                <a:ea typeface="Calibri" pitchFamily="34" charset="-122"/>
                <a:cs typeface="Calibri" pitchFamily="34" charset="-120"/>
              </a:rPr>
              <a:t>After four passes the list is fully sorted. Notice that at most one swap occurred per pass — this is what distinguishes Selection Sort from Bubble Sort.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full logic as a flowchart</a:t>
            </a:r>
            <a:endParaRPr lang="en-US" sz="3000" dirty="0"/>
          </a:p>
        </p:txBody>
      </p:sp>
      <p:sp>
        <p:nvSpPr>
          <p:cNvPr id="3" name="Text 1"/>
          <p:cNvSpPr/>
          <p:nvPr/>
        </p:nvSpPr>
        <p:spPr>
          <a:xfrm>
            <a:off x="731520" y="1280160"/>
            <a:ext cx="320040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Symbol key</a:t>
            </a:r>
            <a:endParaRPr lang="en-US" sz="1400" dirty="0"/>
          </a:p>
        </p:txBody>
      </p:sp>
      <p:sp>
        <p:nvSpPr>
          <p:cNvPr id="4" name="Shape 2"/>
          <p:cNvSpPr/>
          <p:nvPr/>
        </p:nvSpPr>
        <p:spPr>
          <a:xfrm>
            <a:off x="731520" y="1828800"/>
            <a:ext cx="822960" cy="365760"/>
          </a:xfrm>
          <a:prstGeom prst="roundRect">
            <a:avLst>
              <a:gd name="adj" fmla="val 50000"/>
            </a:avLst>
          </a:prstGeom>
          <a:solidFill>
            <a:srgbClr val="1E2761"/>
          </a:solidFill>
          <a:ln w="12700">
            <a:solidFill>
              <a:srgbClr val="1E2761"/>
            </a:solidFill>
            <a:prstDash val="solid"/>
          </a:ln>
        </p:spPr>
      </p:sp>
      <p:sp>
        <p:nvSpPr>
          <p:cNvPr id="5" name="Text 3"/>
          <p:cNvSpPr/>
          <p:nvPr/>
        </p:nvSpPr>
        <p:spPr>
          <a:xfrm>
            <a:off x="1691640" y="1783080"/>
            <a:ext cx="22860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Start / End</a:t>
            </a:r>
            <a:endParaRPr lang="en-US" sz="1200" dirty="0"/>
          </a:p>
        </p:txBody>
      </p:sp>
      <p:sp>
        <p:nvSpPr>
          <p:cNvPr id="6" name="Shape 4"/>
          <p:cNvSpPr/>
          <p:nvPr/>
        </p:nvSpPr>
        <p:spPr>
          <a:xfrm>
            <a:off x="731520" y="2651760"/>
            <a:ext cx="822960" cy="365760"/>
          </a:xfrm>
          <a:prstGeom prst="parallelogram">
            <a:avLst/>
          </a:prstGeom>
          <a:solidFill>
            <a:srgbClr val="CADCFC"/>
          </a:solidFill>
          <a:ln w="12700">
            <a:solidFill>
              <a:srgbClr val="1E2761"/>
            </a:solidFill>
            <a:prstDash val="solid"/>
          </a:ln>
        </p:spPr>
      </p:sp>
      <p:sp>
        <p:nvSpPr>
          <p:cNvPr id="7" name="Text 5"/>
          <p:cNvSpPr/>
          <p:nvPr/>
        </p:nvSpPr>
        <p:spPr>
          <a:xfrm>
            <a:off x="1691640" y="2606040"/>
            <a:ext cx="22860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Input / Output</a:t>
            </a:r>
            <a:endParaRPr lang="en-US" sz="1200" dirty="0"/>
          </a:p>
        </p:txBody>
      </p:sp>
      <p:sp>
        <p:nvSpPr>
          <p:cNvPr id="8" name="Shape 6"/>
          <p:cNvSpPr/>
          <p:nvPr/>
        </p:nvSpPr>
        <p:spPr>
          <a:xfrm>
            <a:off x="731520" y="3474720"/>
            <a:ext cx="822960" cy="365760"/>
          </a:xfrm>
          <a:prstGeom prst="rect">
            <a:avLst/>
          </a:prstGeom>
          <a:solidFill>
            <a:srgbClr val="F5F5F5"/>
          </a:solidFill>
          <a:ln w="12700">
            <a:solidFill>
              <a:srgbClr val="6B7280"/>
            </a:solidFill>
            <a:prstDash val="solid"/>
          </a:ln>
        </p:spPr>
      </p:sp>
      <p:sp>
        <p:nvSpPr>
          <p:cNvPr id="9" name="Text 7"/>
          <p:cNvSpPr/>
          <p:nvPr/>
        </p:nvSpPr>
        <p:spPr>
          <a:xfrm>
            <a:off x="1691640" y="3429000"/>
            <a:ext cx="22860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Process (assignment, swap)</a:t>
            </a:r>
            <a:endParaRPr lang="en-US" sz="1200" dirty="0"/>
          </a:p>
        </p:txBody>
      </p:sp>
      <p:sp>
        <p:nvSpPr>
          <p:cNvPr id="10" name="Shape 8"/>
          <p:cNvSpPr/>
          <p:nvPr/>
        </p:nvSpPr>
        <p:spPr>
          <a:xfrm>
            <a:off x="731520" y="4297680"/>
            <a:ext cx="822960" cy="365760"/>
          </a:xfrm>
          <a:prstGeom prst="diamond">
            <a:avLst/>
          </a:prstGeom>
          <a:solidFill>
            <a:srgbClr val="FFF8E1"/>
          </a:solidFill>
          <a:ln w="12700">
            <a:solidFill>
              <a:srgbClr val="B45309"/>
            </a:solidFill>
            <a:prstDash val="solid"/>
          </a:ln>
        </p:spPr>
      </p:sp>
      <p:sp>
        <p:nvSpPr>
          <p:cNvPr id="11" name="Text 9"/>
          <p:cNvSpPr/>
          <p:nvPr/>
        </p:nvSpPr>
        <p:spPr>
          <a:xfrm>
            <a:off x="1691640" y="4251960"/>
            <a:ext cx="2286000" cy="45720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Decision (if / condition)</a:t>
            </a:r>
            <a:endParaRPr lang="en-US" sz="1200" dirty="0"/>
          </a:p>
        </p:txBody>
      </p:sp>
      <p:pic>
        <p:nvPicPr>
          <p:cNvPr id="12" name="Image 0" descr="/home/claude/sortproj/flowchart.png"/>
          <p:cNvPicPr>
            <a:picLocks noChangeAspect="1"/>
          </p:cNvPicPr>
          <p:nvPr/>
        </p:nvPicPr>
        <p:blipFill>
          <a:blip r:embed="rId3"/>
          <a:stretch>
            <a:fillRect/>
          </a:stretch>
        </p:blipFill>
        <p:spPr>
          <a:xfrm>
            <a:off x="4114800" y="914400"/>
            <a:ext cx="3977640" cy="5806440"/>
          </a:xfrm>
          <a:prstGeom prst="rect">
            <a:avLst/>
          </a:prstGeom>
        </p:spPr>
      </p:pic>
      <p:sp>
        <p:nvSpPr>
          <p:cNvPr id="13" name="Shape 10"/>
          <p:cNvSpPr/>
          <p:nvPr/>
        </p:nvSpPr>
        <p:spPr>
          <a:xfrm>
            <a:off x="8412480" y="1280160"/>
            <a:ext cx="3017520" cy="5303520"/>
          </a:xfrm>
          <a:prstGeom prst="roundRect">
            <a:avLst>
              <a:gd name="adj" fmla="val 3636"/>
            </a:avLst>
          </a:prstGeom>
          <a:solidFill>
            <a:srgbClr val="1E2761"/>
          </a:solidFill>
          <a:ln w="12700">
            <a:solidFill>
              <a:srgbClr val="1E2761"/>
            </a:solidFill>
            <a:prstDash val="solid"/>
          </a:ln>
        </p:spPr>
      </p:sp>
      <p:sp>
        <p:nvSpPr>
          <p:cNvPr id="14" name="Text 11"/>
          <p:cNvSpPr/>
          <p:nvPr/>
        </p:nvSpPr>
        <p:spPr>
          <a:xfrm>
            <a:off x="8595360" y="1417320"/>
            <a:ext cx="274320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How to read it</a:t>
            </a:r>
            <a:endParaRPr lang="en-US" sz="1600" dirty="0"/>
          </a:p>
        </p:txBody>
      </p:sp>
      <p:sp>
        <p:nvSpPr>
          <p:cNvPr id="15" name="Text 12"/>
          <p:cNvSpPr/>
          <p:nvPr/>
        </p:nvSpPr>
        <p:spPr>
          <a:xfrm>
            <a:off x="8595360" y="1920240"/>
            <a:ext cx="2743200" cy="4572000"/>
          </a:xfrm>
          <a:prstGeom prst="rect">
            <a:avLst/>
          </a:prstGeom>
          <a:noFill/>
          <a:ln/>
        </p:spPr>
        <p:txBody>
          <a:bodyPr wrap="square" rtlCol="0" anchor="t"/>
          <a:lstStyle/>
          <a:p>
            <a:pPr marL="0" indent="0">
              <a:buNone/>
            </a:pPr>
            <a:r>
              <a:rPr lang="en-US" sz="1300" b="1" dirty="0">
                <a:solidFill>
                  <a:srgbClr val="CADCFC"/>
                </a:solidFill>
                <a:latin typeface="Cambria" pitchFamily="34" charset="0"/>
                <a:ea typeface="Cambria" pitchFamily="34" charset="-122"/>
                <a:cs typeface="Cambria" pitchFamily="34" charset="-120"/>
              </a:rPr>
              <a:t>Outer loop</a:t>
            </a:r>
            <a:endParaRPr lang="en-US" sz="1300" dirty="0"/>
          </a:p>
          <a:p>
            <a:pPr marL="0" indent="0">
              <a:spcAft>
                <a:spcPts val="1200"/>
              </a:spcAft>
              <a:buNone/>
            </a:pPr>
            <a:r>
              <a:rPr lang="en-US" sz="1200" dirty="0">
                <a:solidFill>
                  <a:srgbClr val="FFFFFF"/>
                </a:solidFill>
              </a:rPr>
              <a:t>Moves position i from 0 to n − 1, marking where the next-smallest element must go.</a:t>
            </a:r>
            <a:endParaRPr lang="en-US" sz="1300" dirty="0"/>
          </a:p>
          <a:p>
            <a:pPr marL="0" indent="0">
              <a:buNone/>
            </a:pPr>
            <a:r>
              <a:rPr lang="en-US" sz="1300" b="1" dirty="0">
                <a:solidFill>
                  <a:srgbClr val="CADCFC"/>
                </a:solidFill>
                <a:latin typeface="Cambria" pitchFamily="34" charset="0"/>
                <a:ea typeface="Cambria" pitchFamily="34" charset="-122"/>
                <a:cs typeface="Cambria" pitchFamily="34" charset="-120"/>
              </a:rPr>
              <a:t>Inner loop</a:t>
            </a:r>
            <a:endParaRPr lang="en-US" sz="1300" dirty="0"/>
          </a:p>
          <a:p>
            <a:pPr marL="0" indent="0">
              <a:spcAft>
                <a:spcPts val="1200"/>
              </a:spcAft>
              <a:buNone/>
            </a:pPr>
            <a:r>
              <a:rPr lang="en-US" sz="1200" dirty="0">
                <a:solidFill>
                  <a:srgbClr val="FFFFFF"/>
                </a:solidFill>
              </a:rPr>
              <a:t>Scans from j = i + 1 to n − 1 and tracks the smallest value found.</a:t>
            </a:r>
            <a:endParaRPr lang="en-US" sz="1300" dirty="0"/>
          </a:p>
          <a:p>
            <a:pPr marL="0" indent="0">
              <a:buNone/>
            </a:pPr>
            <a:r>
              <a:rPr lang="en-US" sz="1300" b="1" dirty="0">
                <a:solidFill>
                  <a:srgbClr val="CADCFC"/>
                </a:solidFill>
                <a:latin typeface="Cambria" pitchFamily="34" charset="0"/>
                <a:ea typeface="Cambria" pitchFamily="34" charset="-122"/>
                <a:cs typeface="Cambria" pitchFamily="34" charset="-120"/>
              </a:rPr>
              <a:t>Swap step</a:t>
            </a:r>
            <a:endParaRPr lang="en-US" sz="1300" dirty="0"/>
          </a:p>
          <a:p>
            <a:pPr marL="0" indent="0">
              <a:spcAft>
                <a:spcPts val="1200"/>
              </a:spcAft>
              <a:buNone/>
            </a:pPr>
            <a:r>
              <a:rPr lang="en-US" sz="1200" dirty="0">
                <a:solidFill>
                  <a:srgbClr val="FFFFFF"/>
                </a:solidFill>
              </a:rPr>
              <a:t>Only performed if the smallest is not already at position i.</a:t>
            </a:r>
            <a:endParaRPr lang="en-US" sz="1300" dirty="0"/>
          </a:p>
          <a:p>
            <a:pPr marL="0" indent="0">
              <a:buNone/>
            </a:pPr>
            <a:r>
              <a:rPr lang="en-US" sz="1300" b="1" dirty="0">
                <a:solidFill>
                  <a:srgbClr val="CADCFC"/>
                </a:solidFill>
                <a:latin typeface="Cambria" pitchFamily="34" charset="0"/>
                <a:ea typeface="Cambria" pitchFamily="34" charset="-122"/>
                <a:cs typeface="Cambria" pitchFamily="34" charset="-120"/>
              </a:rPr>
              <a:t>Return arrows</a:t>
            </a:r>
            <a:endParaRPr lang="en-US" sz="1300" dirty="0"/>
          </a:p>
          <a:p>
            <a:pPr marL="0" indent="0">
              <a:buNone/>
            </a:pPr>
            <a:r>
              <a:rPr lang="en-US" sz="1200" dirty="0">
                <a:solidFill>
                  <a:srgbClr val="FFFFFF"/>
                </a:solidFill>
              </a:rPr>
              <a:t>Bring control back to the loop condition to check whether to continue.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same logic as pseudocode</a:t>
            </a:r>
            <a:endParaRPr lang="en-US" sz="3200" dirty="0"/>
          </a:p>
        </p:txBody>
      </p:sp>
      <p:sp>
        <p:nvSpPr>
          <p:cNvPr id="3" name="Text 1"/>
          <p:cNvSpPr/>
          <p:nvPr/>
        </p:nvSpPr>
        <p:spPr>
          <a:xfrm>
            <a:off x="731520" y="1097280"/>
            <a:ext cx="10972800"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Plain structured English — no programming language syntax.</a:t>
            </a:r>
            <a:endParaRPr lang="en-US" sz="1400" dirty="0"/>
          </a:p>
        </p:txBody>
      </p:sp>
      <p:sp>
        <p:nvSpPr>
          <p:cNvPr id="4" name="Shape 2"/>
          <p:cNvSpPr/>
          <p:nvPr/>
        </p:nvSpPr>
        <p:spPr>
          <a:xfrm>
            <a:off x="731520" y="1645920"/>
            <a:ext cx="7772400" cy="4937760"/>
          </a:xfrm>
          <a:prstGeom prst="roundRect">
            <a:avLst>
              <a:gd name="adj" fmla="val 1852"/>
            </a:avLst>
          </a:prstGeom>
          <a:solidFill>
            <a:srgbClr val="0F172A"/>
          </a:solidFill>
          <a:ln w="12700">
            <a:solidFill>
              <a:srgbClr val="1E2761"/>
            </a:solidFill>
            <a:prstDash val="solid"/>
          </a:ln>
        </p:spPr>
      </p:sp>
      <p:sp>
        <p:nvSpPr>
          <p:cNvPr id="5" name="Text 3"/>
          <p:cNvSpPr/>
          <p:nvPr/>
        </p:nvSpPr>
        <p:spPr>
          <a:xfrm>
            <a:off x="1005840" y="1828800"/>
            <a:ext cx="7315200" cy="4572000"/>
          </a:xfrm>
          <a:prstGeom prst="rect">
            <a:avLst/>
          </a:prstGeom>
          <a:noFill/>
          <a:ln/>
        </p:spPr>
        <p:txBody>
          <a:bodyPr wrap="square" rtlCol="0" anchor="t"/>
          <a:lstStyle/>
          <a:p>
            <a:pPr marL="0" indent="0">
              <a:buNone/>
            </a:pPr>
            <a:r>
              <a:rPr lang="en-US" sz="1300" b="1" dirty="0">
                <a:solidFill>
                  <a:srgbClr val="93C5FD"/>
                </a:solidFill>
                <a:latin typeface="Consolas" pitchFamily="34" charset="0"/>
                <a:ea typeface="Consolas" pitchFamily="34" charset="-122"/>
                <a:cs typeface="Consolas" pitchFamily="34" charset="-120"/>
              </a:rPr>
              <a:t>ALGORITHM: SelectionSort</a:t>
            </a:r>
            <a:endParaRPr lang="en-US" sz="1300" dirty="0"/>
          </a:p>
          <a:p>
            <a:pPr marL="0" indent="0">
              <a:buNone/>
            </a:pPr>
            <a:endParaRPr lang="en-US" sz="1300" dirty="0"/>
          </a:p>
          <a:p>
            <a:pPr marL="0" indent="0">
              <a:buNone/>
            </a:pPr>
            <a:r>
              <a:rPr lang="en-US" sz="1300" dirty="0">
                <a:solidFill>
                  <a:srgbClr val="D1D5DB"/>
                </a:solidFill>
                <a:latin typeface="Consolas" pitchFamily="34" charset="0"/>
                <a:ea typeface="Consolas" pitchFamily="34" charset="-122"/>
                <a:cs typeface="Consolas" pitchFamily="34" charset="-120"/>
              </a:rPr>
              <a:t>INPUT:  A list called List with n items (index 0 .. n − 1)</a:t>
            </a:r>
            <a:endParaRPr lang="en-US" sz="1300" dirty="0"/>
          </a:p>
          <a:p>
            <a:pPr marL="0" indent="0">
              <a:buNone/>
            </a:pPr>
            <a:endParaRPr lang="en-US" sz="1300" dirty="0"/>
          </a:p>
          <a:p>
            <a:pPr marL="0" indent="0">
              <a:buNone/>
            </a:pPr>
            <a:r>
              <a:rPr lang="en-US" sz="1300" b="1" dirty="0">
                <a:solidFill>
                  <a:srgbClr val="F59E0B"/>
                </a:solidFill>
                <a:latin typeface="Consolas" pitchFamily="34" charset="0"/>
                <a:ea typeface="Consolas" pitchFamily="34" charset="-122"/>
                <a:cs typeface="Consolas" pitchFamily="34" charset="-120"/>
              </a:rPr>
              <a:t>BEGIN</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FOR i FROM 0 TO n − 2 DO</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SET min_index = i</a:t>
            </a:r>
            <a:endParaRPr lang="en-US" sz="1300" dirty="0"/>
          </a:p>
          <a:p>
            <a:pPr marL="0" indent="0">
              <a:buNone/>
            </a:pPr>
            <a:endParaRPr lang="en-US" sz="1300" dirty="0"/>
          </a:p>
          <a:p>
            <a:pPr marL="0" indent="0">
              <a:buNone/>
            </a:pPr>
            <a:r>
              <a:rPr lang="en-US" sz="1300" i="1" dirty="0">
                <a:solidFill>
                  <a:srgbClr val="6EE7B7"/>
                </a:solidFill>
                <a:latin typeface="Consolas" pitchFamily="34" charset="0"/>
                <a:ea typeface="Consolas" pitchFamily="34" charset="-122"/>
                <a:cs typeface="Consolas" pitchFamily="34" charset="-120"/>
              </a:rPr>
              <a:t>        // Find the smallest in the unsorted portion</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FOR j FROM i + 1 TO n − 1 DO</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IF List[j] &lt; List[min_index] THEN</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SET min_index = j</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END IF</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END FOR</a:t>
            </a:r>
            <a:endParaRPr lang="en-US" sz="1300" dirty="0"/>
          </a:p>
          <a:p>
            <a:pPr marL="0" indent="0">
              <a:buNone/>
            </a:pPr>
            <a:endParaRPr lang="en-US" sz="1300" dirty="0"/>
          </a:p>
          <a:p>
            <a:pPr marL="0" indent="0">
              <a:buNone/>
            </a:pPr>
            <a:r>
              <a:rPr lang="en-US" sz="1300" i="1" dirty="0">
                <a:solidFill>
                  <a:srgbClr val="6EE7B7"/>
                </a:solidFill>
                <a:latin typeface="Consolas" pitchFamily="34" charset="0"/>
                <a:ea typeface="Consolas" pitchFamily="34" charset="-122"/>
                <a:cs typeface="Consolas" pitchFamily="34" charset="-120"/>
              </a:rPr>
              <a:t>        // Place the smallest at position i</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IF min_index ≠ i THEN</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SWAP List[i] WITH List[min_index]</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END IF</a:t>
            </a:r>
            <a:endParaRPr lang="en-US" sz="1300" dirty="0"/>
          </a:p>
          <a:p>
            <a:pPr marL="0" indent="0">
              <a:buNone/>
            </a:pPr>
            <a:r>
              <a:rPr lang="en-US" sz="1300" dirty="0">
                <a:solidFill>
                  <a:srgbClr val="E5E7EB"/>
                </a:solidFill>
                <a:latin typeface="Consolas" pitchFamily="34" charset="0"/>
                <a:ea typeface="Consolas" pitchFamily="34" charset="-122"/>
                <a:cs typeface="Consolas" pitchFamily="34" charset="-120"/>
              </a:rPr>
              <a:t>    END FOR</a:t>
            </a:r>
            <a:endParaRPr lang="en-US" sz="1300" dirty="0"/>
          </a:p>
          <a:p>
            <a:pPr marL="0" indent="0">
              <a:buNone/>
            </a:pPr>
            <a:endParaRPr lang="en-US" sz="1300" dirty="0"/>
          </a:p>
          <a:p>
            <a:pPr marL="0" indent="0">
              <a:buNone/>
            </a:pPr>
            <a:r>
              <a:rPr lang="en-US" sz="1300" dirty="0">
                <a:solidFill>
                  <a:srgbClr val="D1D5DB"/>
                </a:solidFill>
                <a:latin typeface="Consolas" pitchFamily="34" charset="0"/>
                <a:ea typeface="Consolas" pitchFamily="34" charset="-122"/>
                <a:cs typeface="Consolas" pitchFamily="34" charset="-120"/>
              </a:rPr>
              <a:t>OUTPUT: List, now sorted in ascending order</a:t>
            </a:r>
            <a:endParaRPr lang="en-US" sz="1300" dirty="0"/>
          </a:p>
          <a:p>
            <a:pPr marL="0" indent="0">
              <a:buNone/>
            </a:pPr>
            <a:r>
              <a:rPr lang="en-US" sz="1300" b="1" dirty="0">
                <a:solidFill>
                  <a:srgbClr val="F59E0B"/>
                </a:solidFill>
                <a:latin typeface="Consolas" pitchFamily="34" charset="0"/>
                <a:ea typeface="Consolas" pitchFamily="34" charset="-122"/>
                <a:cs typeface="Consolas" pitchFamily="34" charset="-120"/>
              </a:rPr>
              <a:t>END</a:t>
            </a:r>
            <a:endParaRPr lang="en-US" sz="1300" dirty="0"/>
          </a:p>
        </p:txBody>
      </p:sp>
      <p:sp>
        <p:nvSpPr>
          <p:cNvPr id="6" name="Text 4"/>
          <p:cNvSpPr/>
          <p:nvPr/>
        </p:nvSpPr>
        <p:spPr>
          <a:xfrm>
            <a:off x="8778240" y="1737360"/>
            <a:ext cx="283464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Two loops, one swap</a:t>
            </a:r>
            <a:endParaRPr lang="en-US" sz="1800" dirty="0"/>
          </a:p>
        </p:txBody>
      </p:sp>
      <p:sp>
        <p:nvSpPr>
          <p:cNvPr id="7" name="Text 5"/>
          <p:cNvSpPr/>
          <p:nvPr/>
        </p:nvSpPr>
        <p:spPr>
          <a:xfrm>
            <a:off x="8778240" y="2286000"/>
            <a:ext cx="283464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Outer FOR</a:t>
            </a:r>
            <a:endParaRPr lang="en-US" sz="1400" dirty="0"/>
          </a:p>
        </p:txBody>
      </p:sp>
      <p:sp>
        <p:nvSpPr>
          <p:cNvPr id="8" name="Text 6"/>
          <p:cNvSpPr/>
          <p:nvPr/>
        </p:nvSpPr>
        <p:spPr>
          <a:xfrm>
            <a:off x="8778240" y="2606040"/>
            <a:ext cx="2834640" cy="91440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Advances the sorted boundary one step at a time.</a:t>
            </a:r>
            <a:endParaRPr lang="en-US" sz="1200" dirty="0"/>
          </a:p>
        </p:txBody>
      </p:sp>
      <p:sp>
        <p:nvSpPr>
          <p:cNvPr id="9" name="Text 7"/>
          <p:cNvSpPr/>
          <p:nvPr/>
        </p:nvSpPr>
        <p:spPr>
          <a:xfrm>
            <a:off x="8778240" y="3657600"/>
            <a:ext cx="283464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Inner FOR</a:t>
            </a:r>
            <a:endParaRPr lang="en-US" sz="1400" dirty="0"/>
          </a:p>
        </p:txBody>
      </p:sp>
      <p:sp>
        <p:nvSpPr>
          <p:cNvPr id="10" name="Text 8"/>
          <p:cNvSpPr/>
          <p:nvPr/>
        </p:nvSpPr>
        <p:spPr>
          <a:xfrm>
            <a:off x="8778240" y="3977640"/>
            <a:ext cx="2834640" cy="91440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Only looks — never swaps. It tracks where the smallest lives.</a:t>
            </a:r>
            <a:endParaRPr lang="en-US" sz="1200" dirty="0"/>
          </a:p>
        </p:txBody>
      </p:sp>
      <p:sp>
        <p:nvSpPr>
          <p:cNvPr id="11" name="Text 9"/>
          <p:cNvSpPr/>
          <p:nvPr/>
        </p:nvSpPr>
        <p:spPr>
          <a:xfrm>
            <a:off x="8778240" y="5029200"/>
            <a:ext cx="283464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Single SWAP</a:t>
            </a:r>
            <a:endParaRPr lang="en-US" sz="1400" dirty="0"/>
          </a:p>
        </p:txBody>
      </p:sp>
      <p:sp>
        <p:nvSpPr>
          <p:cNvPr id="12" name="Text 10"/>
          <p:cNvSpPr/>
          <p:nvPr/>
        </p:nvSpPr>
        <p:spPr>
          <a:xfrm>
            <a:off x="8778240" y="5349240"/>
            <a:ext cx="2834640" cy="914400"/>
          </a:xfrm>
          <a:prstGeom prst="rect">
            <a:avLst/>
          </a:prstGeom>
          <a:noFill/>
          <a:ln/>
        </p:spPr>
        <p:txBody>
          <a:bodyPr wrap="square" rtlCol="0" anchor="t"/>
          <a:lstStyle/>
          <a:p>
            <a:pPr marL="0" indent="0">
              <a:buNone/>
            </a:pPr>
            <a:r>
              <a:rPr lang="en-US" sz="1200" dirty="0">
                <a:solidFill>
                  <a:srgbClr val="1F2937"/>
                </a:solidFill>
                <a:latin typeface="Calibri" pitchFamily="34" charset="0"/>
                <a:ea typeface="Calibri" pitchFamily="34" charset="-122"/>
                <a:cs typeface="Calibri" pitchFamily="34" charset="-120"/>
              </a:rPr>
              <a:t>Happens once per outer pass — the whole point of the algorithm.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Selection Sort vs Bubble Sort</a:t>
            </a:r>
            <a:endParaRPr lang="en-US" sz="3400" dirty="0"/>
          </a:p>
        </p:txBody>
      </p:sp>
      <p:sp>
        <p:nvSpPr>
          <p:cNvPr id="3" name="Text 1"/>
          <p:cNvSpPr/>
          <p:nvPr/>
        </p:nvSpPr>
        <p:spPr>
          <a:xfrm>
            <a:off x="731520" y="1097280"/>
            <a:ext cx="109728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Same comparison count. Very different swap count.</a:t>
            </a:r>
            <a:endParaRPr lang="en-US" sz="1500" dirty="0"/>
          </a:p>
        </p:txBody>
      </p:sp>
      <p:sp>
        <p:nvSpPr>
          <p:cNvPr id="4" name="Shape 2"/>
          <p:cNvSpPr/>
          <p:nvPr/>
        </p:nvSpPr>
        <p:spPr>
          <a:xfrm>
            <a:off x="731520" y="1737360"/>
            <a:ext cx="5349240" cy="4846320"/>
          </a:xfrm>
          <a:prstGeom prst="roundRect">
            <a:avLst>
              <a:gd name="adj" fmla="val 2264"/>
            </a:avLst>
          </a:prstGeom>
          <a:solidFill>
            <a:srgbClr val="1E2761"/>
          </a:solidFill>
          <a:ln w="12700">
            <a:solidFill>
              <a:srgbClr val="1E2761"/>
            </a:solidFill>
            <a:prstDash val="solid"/>
          </a:ln>
        </p:spPr>
      </p:sp>
      <p:sp>
        <p:nvSpPr>
          <p:cNvPr id="5" name="Text 3"/>
          <p:cNvSpPr/>
          <p:nvPr/>
        </p:nvSpPr>
        <p:spPr>
          <a:xfrm>
            <a:off x="1005840" y="1920240"/>
            <a:ext cx="4846320" cy="45720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Selection Sort</a:t>
            </a:r>
            <a:endParaRPr lang="en-US" sz="2400" dirty="0"/>
          </a:p>
        </p:txBody>
      </p:sp>
      <p:sp>
        <p:nvSpPr>
          <p:cNvPr id="6" name="Text 4"/>
          <p:cNvSpPr/>
          <p:nvPr/>
        </p:nvSpPr>
        <p:spPr>
          <a:xfrm>
            <a:off x="1005840" y="2331720"/>
            <a:ext cx="4846320" cy="32004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Our topic</a:t>
            </a:r>
            <a:endParaRPr lang="en-US" sz="1200" dirty="0"/>
          </a:p>
        </p:txBody>
      </p:sp>
      <p:sp>
        <p:nvSpPr>
          <p:cNvPr id="7" name="Text 5"/>
          <p:cNvSpPr/>
          <p:nvPr/>
        </p:nvSpPr>
        <p:spPr>
          <a:xfrm>
            <a:off x="1005840" y="2834640"/>
            <a:ext cx="4846320" cy="3566160"/>
          </a:xfrm>
          <a:prstGeom prst="rect">
            <a:avLst/>
          </a:prstGeom>
          <a:noFill/>
          <a:ln/>
        </p:spPr>
        <p:txBody>
          <a:bodyPr wrap="square"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Scans the unsorted portion to find the smallest, then swaps once at the end of the pass.</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At most n − 1 swaps in total, no matter how the data is ordered.</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Comparisons: always O(n²) — always looks at every remaining element.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Best when moving data is expensive (large records, flash memory, physical items).</a:t>
            </a:r>
            <a:endParaRPr lang="en-US" sz="1400" dirty="0"/>
          </a:p>
        </p:txBody>
      </p:sp>
      <p:sp>
        <p:nvSpPr>
          <p:cNvPr id="8" name="Shape 6"/>
          <p:cNvSpPr/>
          <p:nvPr/>
        </p:nvSpPr>
        <p:spPr>
          <a:xfrm>
            <a:off x="6263640" y="1737360"/>
            <a:ext cx="5349240" cy="4846320"/>
          </a:xfrm>
          <a:prstGeom prst="roundRect">
            <a:avLst>
              <a:gd name="adj" fmla="val 2264"/>
            </a:avLst>
          </a:prstGeom>
          <a:solidFill>
            <a:srgbClr val="F8F9FB"/>
          </a:solidFill>
          <a:ln w="12700">
            <a:solidFill>
              <a:srgbClr val="D1D5DB"/>
            </a:solidFill>
            <a:prstDash val="solid"/>
          </a:ln>
        </p:spPr>
      </p:sp>
      <p:sp>
        <p:nvSpPr>
          <p:cNvPr id="9" name="Text 7"/>
          <p:cNvSpPr/>
          <p:nvPr/>
        </p:nvSpPr>
        <p:spPr>
          <a:xfrm>
            <a:off x="6537960" y="1920240"/>
            <a:ext cx="4846320" cy="45720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Bubble Sort</a:t>
            </a:r>
            <a:endParaRPr lang="en-US" sz="2400" dirty="0"/>
          </a:p>
        </p:txBody>
      </p:sp>
      <p:sp>
        <p:nvSpPr>
          <p:cNvPr id="10" name="Text 8"/>
          <p:cNvSpPr/>
          <p:nvPr/>
        </p:nvSpPr>
        <p:spPr>
          <a:xfrm>
            <a:off x="6537960" y="2331720"/>
            <a:ext cx="4846320" cy="3200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For comparison</a:t>
            </a:r>
            <a:endParaRPr lang="en-US" sz="1200" dirty="0"/>
          </a:p>
        </p:txBody>
      </p:sp>
      <p:sp>
        <p:nvSpPr>
          <p:cNvPr id="11" name="Text 9"/>
          <p:cNvSpPr/>
          <p:nvPr/>
        </p:nvSpPr>
        <p:spPr>
          <a:xfrm>
            <a:off x="6537960" y="2834640"/>
            <a:ext cx="4846320" cy="3566160"/>
          </a:xfrm>
          <a:prstGeom prst="rect">
            <a:avLst/>
          </a:prstGeom>
          <a:noFill/>
          <a:ln/>
        </p:spPr>
        <p:txBody>
          <a:bodyPr wrap="square" rtlCol="0" anchor="t"/>
          <a:lstStyle/>
          <a:p>
            <a:pPr marL="342900" indent="-3429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Repeatedly compares neighboring pairs and swaps them whenever they are out of order.</a:t>
            </a:r>
            <a:endParaRPr lang="en-US" sz="1400" dirty="0"/>
          </a:p>
          <a:p>
            <a:pPr marL="342900" indent="-3429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Up to n(n − 1)/2 swaps in the worst case — many more writes per pass.</a:t>
            </a:r>
            <a:endParaRPr lang="en-US" sz="1400" dirty="0"/>
          </a:p>
          <a:p>
            <a:pPr marL="342900" indent="-342900">
              <a:spcAft>
                <a:spcPts val="1200"/>
              </a:spcAft>
              <a:buSzPct val="100000"/>
              <a:buChar char="•"/>
            </a:pPr>
            <a:r>
              <a:rPr lang="en-US" sz="1400" dirty="0">
                <a:solidFill>
                  <a:srgbClr val="1F2937"/>
                </a:solidFill>
                <a:latin typeface="Calibri" pitchFamily="34" charset="0"/>
                <a:ea typeface="Calibri" pitchFamily="34" charset="-122"/>
                <a:cs typeface="Calibri" pitchFamily="34" charset="-120"/>
              </a:rPr>
              <a:t>Comparisons: also O(n²) — no advantage on comparison count.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Useful for teaching pairwise comparison, but rarely the right choice in practice.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640080"/>
          </a:xfrm>
          <a:prstGeom prst="rect">
            <a:avLst/>
          </a:prstGeom>
          <a:noFill/>
          <a:ln/>
        </p:spPr>
        <p:txBody>
          <a:bodyPr wrap="square"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Where fewer swaps really matter</a:t>
            </a:r>
            <a:endParaRPr lang="en-US" sz="3400" dirty="0"/>
          </a:p>
        </p:txBody>
      </p:sp>
      <p:sp>
        <p:nvSpPr>
          <p:cNvPr id="3" name="Text 1"/>
          <p:cNvSpPr/>
          <p:nvPr/>
        </p:nvSpPr>
        <p:spPr>
          <a:xfrm>
            <a:off x="731520" y="1097280"/>
            <a:ext cx="10972800" cy="365760"/>
          </a:xfrm>
          <a:prstGeom prst="rect">
            <a:avLst/>
          </a:prstGeom>
          <a:noFill/>
          <a:ln/>
        </p:spPr>
        <p:txBody>
          <a:bodyPr wrap="square"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Selection Sort earns its keep whenever moving data costs something.</a:t>
            </a:r>
            <a:endParaRPr lang="en-US" sz="1500" dirty="0"/>
          </a:p>
        </p:txBody>
      </p:sp>
      <p:sp>
        <p:nvSpPr>
          <p:cNvPr id="4" name="Shape 2"/>
          <p:cNvSpPr/>
          <p:nvPr/>
        </p:nvSpPr>
        <p:spPr>
          <a:xfrm>
            <a:off x="731520" y="1828800"/>
            <a:ext cx="5349240" cy="2331720"/>
          </a:xfrm>
          <a:prstGeom prst="roundRect">
            <a:avLst>
              <a:gd name="adj" fmla="val 3922"/>
            </a:avLst>
          </a:prstGeom>
          <a:solidFill>
            <a:srgbClr val="F8F9FB"/>
          </a:solidFill>
          <a:ln w="12700">
            <a:solidFill>
              <a:srgbClr val="E5E7EB"/>
            </a:solidFill>
            <a:prstDash val="solid"/>
          </a:ln>
        </p:spPr>
      </p:sp>
      <p:sp>
        <p:nvSpPr>
          <p:cNvPr id="5" name="Shape 3"/>
          <p:cNvSpPr/>
          <p:nvPr/>
        </p:nvSpPr>
        <p:spPr>
          <a:xfrm>
            <a:off x="1005840" y="2103120"/>
            <a:ext cx="822960" cy="822960"/>
          </a:xfrm>
          <a:prstGeom prst="ellipse">
            <a:avLst/>
          </a:prstGeom>
          <a:solidFill>
            <a:srgbClr val="E4EDFC"/>
          </a:solidFill>
          <a:ln w="12700">
            <a:solidFill>
              <a:srgbClr val="CADCFC"/>
            </a:solidFill>
            <a:prstDash val="solid"/>
          </a:ln>
        </p:spPr>
      </p:sp>
      <p:sp>
        <p:nvSpPr>
          <p:cNvPr id="6" name="Text 4"/>
          <p:cNvSpPr/>
          <p:nvPr/>
        </p:nvSpPr>
        <p:spPr>
          <a:xfrm>
            <a:off x="1005840" y="210312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7" name="Text 5"/>
          <p:cNvSpPr/>
          <p:nvPr/>
        </p:nvSpPr>
        <p:spPr>
          <a:xfrm>
            <a:off x="2011680" y="2148840"/>
            <a:ext cx="3886200" cy="502920"/>
          </a:xfrm>
          <a:prstGeom prst="rect">
            <a:avLst/>
          </a:prstGeom>
          <a:noFill/>
          <a:ln/>
        </p:spPr>
        <p:txBody>
          <a:bodyPr wrap="square" rtlCol="0" anchor="t"/>
          <a:lstStyle/>
          <a:p>
            <a:pPr marL="0" indent="0">
              <a:buNone/>
            </a:pPr>
            <a:r>
              <a:rPr lang="en-US" sz="1900" b="1" dirty="0">
                <a:solidFill>
                  <a:srgbClr val="1E2761"/>
                </a:solidFill>
                <a:latin typeface="Cambria" pitchFamily="34" charset="0"/>
                <a:ea typeface="Cambria" pitchFamily="34" charset="-122"/>
                <a:cs typeface="Cambria" pitchFamily="34" charset="-120"/>
              </a:rPr>
              <a:t>Warehouse sorting</a:t>
            </a:r>
            <a:endParaRPr lang="en-US" sz="1900" dirty="0"/>
          </a:p>
        </p:txBody>
      </p:sp>
      <p:sp>
        <p:nvSpPr>
          <p:cNvPr id="8" name="Text 6"/>
          <p:cNvSpPr/>
          <p:nvPr/>
        </p:nvSpPr>
        <p:spPr>
          <a:xfrm>
            <a:off x="1051560" y="3063240"/>
            <a:ext cx="4709160" cy="10058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Moving heavy boxes or pallets costs labor and time. Fewer swaps means less physical handling by workers or forklifts.</a:t>
            </a:r>
            <a:endParaRPr lang="en-US" sz="1300" dirty="0"/>
          </a:p>
        </p:txBody>
      </p:sp>
      <p:sp>
        <p:nvSpPr>
          <p:cNvPr id="9" name="Shape 7"/>
          <p:cNvSpPr/>
          <p:nvPr/>
        </p:nvSpPr>
        <p:spPr>
          <a:xfrm>
            <a:off x="6217920" y="1828800"/>
            <a:ext cx="5349240" cy="2331720"/>
          </a:xfrm>
          <a:prstGeom prst="roundRect">
            <a:avLst>
              <a:gd name="adj" fmla="val 3922"/>
            </a:avLst>
          </a:prstGeom>
          <a:solidFill>
            <a:srgbClr val="F8F9FB"/>
          </a:solidFill>
          <a:ln w="12700">
            <a:solidFill>
              <a:srgbClr val="E5E7EB"/>
            </a:solidFill>
            <a:prstDash val="solid"/>
          </a:ln>
        </p:spPr>
      </p:sp>
      <p:sp>
        <p:nvSpPr>
          <p:cNvPr id="10" name="Shape 8"/>
          <p:cNvSpPr/>
          <p:nvPr/>
        </p:nvSpPr>
        <p:spPr>
          <a:xfrm>
            <a:off x="6492240" y="2103120"/>
            <a:ext cx="822960" cy="822960"/>
          </a:xfrm>
          <a:prstGeom prst="ellipse">
            <a:avLst/>
          </a:prstGeom>
          <a:solidFill>
            <a:srgbClr val="E4EDFC"/>
          </a:solidFill>
          <a:ln w="12700">
            <a:solidFill>
              <a:srgbClr val="CADCFC"/>
            </a:solidFill>
            <a:prstDash val="solid"/>
          </a:ln>
        </p:spPr>
      </p:sp>
      <p:sp>
        <p:nvSpPr>
          <p:cNvPr id="11" name="Text 9"/>
          <p:cNvSpPr/>
          <p:nvPr/>
        </p:nvSpPr>
        <p:spPr>
          <a:xfrm>
            <a:off x="6492240" y="210312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2" name="Text 10"/>
          <p:cNvSpPr/>
          <p:nvPr/>
        </p:nvSpPr>
        <p:spPr>
          <a:xfrm>
            <a:off x="7498080" y="2148840"/>
            <a:ext cx="3886200" cy="502920"/>
          </a:xfrm>
          <a:prstGeom prst="rect">
            <a:avLst/>
          </a:prstGeom>
          <a:noFill/>
          <a:ln/>
        </p:spPr>
        <p:txBody>
          <a:bodyPr wrap="square" rtlCol="0" anchor="t"/>
          <a:lstStyle/>
          <a:p>
            <a:pPr marL="0" indent="0">
              <a:buNone/>
            </a:pPr>
            <a:r>
              <a:rPr lang="en-US" sz="1900" b="1" dirty="0">
                <a:solidFill>
                  <a:srgbClr val="1E2761"/>
                </a:solidFill>
                <a:latin typeface="Cambria" pitchFamily="34" charset="0"/>
                <a:ea typeface="Cambria" pitchFamily="34" charset="-122"/>
                <a:cs typeface="Cambria" pitchFamily="34" charset="-120"/>
              </a:rPr>
              <a:t>Flash memory &amp; SSD</a:t>
            </a:r>
            <a:endParaRPr lang="en-US" sz="1900" dirty="0"/>
          </a:p>
        </p:txBody>
      </p:sp>
      <p:sp>
        <p:nvSpPr>
          <p:cNvPr id="13" name="Text 11"/>
          <p:cNvSpPr/>
          <p:nvPr/>
        </p:nvSpPr>
        <p:spPr>
          <a:xfrm>
            <a:off x="6537960" y="3063240"/>
            <a:ext cx="4709160" cy="10058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Every write slowly wears out memory cells. Algorithms that write less extend the useful life of the storage device.</a:t>
            </a:r>
            <a:endParaRPr lang="en-US" sz="1300" dirty="0"/>
          </a:p>
        </p:txBody>
      </p:sp>
      <p:sp>
        <p:nvSpPr>
          <p:cNvPr id="14" name="Shape 12"/>
          <p:cNvSpPr/>
          <p:nvPr/>
        </p:nvSpPr>
        <p:spPr>
          <a:xfrm>
            <a:off x="731520" y="4297680"/>
            <a:ext cx="5349240" cy="2331720"/>
          </a:xfrm>
          <a:prstGeom prst="roundRect">
            <a:avLst>
              <a:gd name="adj" fmla="val 3922"/>
            </a:avLst>
          </a:prstGeom>
          <a:solidFill>
            <a:srgbClr val="F8F9FB"/>
          </a:solidFill>
          <a:ln w="12700">
            <a:solidFill>
              <a:srgbClr val="E5E7EB"/>
            </a:solidFill>
            <a:prstDash val="solid"/>
          </a:ln>
        </p:spPr>
      </p:sp>
      <p:sp>
        <p:nvSpPr>
          <p:cNvPr id="15" name="Shape 13"/>
          <p:cNvSpPr/>
          <p:nvPr/>
        </p:nvSpPr>
        <p:spPr>
          <a:xfrm>
            <a:off x="1005840" y="4572000"/>
            <a:ext cx="822960" cy="822960"/>
          </a:xfrm>
          <a:prstGeom prst="ellipse">
            <a:avLst/>
          </a:prstGeom>
          <a:solidFill>
            <a:srgbClr val="E4EDFC"/>
          </a:solidFill>
          <a:ln w="12700">
            <a:solidFill>
              <a:srgbClr val="CADCFC"/>
            </a:solidFill>
            <a:prstDash val="solid"/>
          </a:ln>
        </p:spPr>
      </p:sp>
      <p:sp>
        <p:nvSpPr>
          <p:cNvPr id="16" name="Text 14"/>
          <p:cNvSpPr/>
          <p:nvPr/>
        </p:nvSpPr>
        <p:spPr>
          <a:xfrm>
            <a:off x="1005840" y="4572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2011680" y="4617720"/>
            <a:ext cx="3886200" cy="502920"/>
          </a:xfrm>
          <a:prstGeom prst="rect">
            <a:avLst/>
          </a:prstGeom>
          <a:noFill/>
          <a:ln/>
        </p:spPr>
        <p:txBody>
          <a:bodyPr wrap="square" rtlCol="0" anchor="t"/>
          <a:lstStyle/>
          <a:p>
            <a:pPr marL="0" indent="0">
              <a:buNone/>
            </a:pPr>
            <a:r>
              <a:rPr lang="en-US" sz="1900" b="1" dirty="0">
                <a:solidFill>
                  <a:srgbClr val="1E2761"/>
                </a:solidFill>
                <a:latin typeface="Cambria" pitchFamily="34" charset="0"/>
                <a:ea typeface="Cambria" pitchFamily="34" charset="-122"/>
                <a:cs typeface="Cambria" pitchFamily="34" charset="-120"/>
              </a:rPr>
              <a:t>Large database records</a:t>
            </a:r>
            <a:endParaRPr lang="en-US" sz="1900" dirty="0"/>
          </a:p>
        </p:txBody>
      </p:sp>
      <p:sp>
        <p:nvSpPr>
          <p:cNvPr id="18" name="Text 16"/>
          <p:cNvSpPr/>
          <p:nvPr/>
        </p:nvSpPr>
        <p:spPr>
          <a:xfrm>
            <a:off x="1051560" y="5532120"/>
            <a:ext cx="4709160" cy="10058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When each record contains many fields, swapping two rows moves a large amount of data. Fewer swaps means less I/O cost.</a:t>
            </a:r>
            <a:endParaRPr lang="en-US" sz="1300" dirty="0"/>
          </a:p>
        </p:txBody>
      </p:sp>
      <p:sp>
        <p:nvSpPr>
          <p:cNvPr id="19" name="Shape 17"/>
          <p:cNvSpPr/>
          <p:nvPr/>
        </p:nvSpPr>
        <p:spPr>
          <a:xfrm>
            <a:off x="6217920" y="4297680"/>
            <a:ext cx="5349240" cy="2331720"/>
          </a:xfrm>
          <a:prstGeom prst="roundRect">
            <a:avLst>
              <a:gd name="adj" fmla="val 3922"/>
            </a:avLst>
          </a:prstGeom>
          <a:solidFill>
            <a:srgbClr val="F8F9FB"/>
          </a:solidFill>
          <a:ln w="12700">
            <a:solidFill>
              <a:srgbClr val="E5E7EB"/>
            </a:solidFill>
            <a:prstDash val="solid"/>
          </a:ln>
        </p:spPr>
      </p:sp>
      <p:sp>
        <p:nvSpPr>
          <p:cNvPr id="20" name="Shape 18"/>
          <p:cNvSpPr/>
          <p:nvPr/>
        </p:nvSpPr>
        <p:spPr>
          <a:xfrm>
            <a:off x="6492240" y="4572000"/>
            <a:ext cx="822960" cy="822960"/>
          </a:xfrm>
          <a:prstGeom prst="ellipse">
            <a:avLst/>
          </a:prstGeom>
          <a:solidFill>
            <a:srgbClr val="E4EDFC"/>
          </a:solidFill>
          <a:ln w="12700">
            <a:solidFill>
              <a:srgbClr val="CADCFC"/>
            </a:solidFill>
            <a:prstDash val="solid"/>
          </a:ln>
        </p:spPr>
      </p:sp>
      <p:sp>
        <p:nvSpPr>
          <p:cNvPr id="21" name="Text 19"/>
          <p:cNvSpPr/>
          <p:nvPr/>
        </p:nvSpPr>
        <p:spPr>
          <a:xfrm>
            <a:off x="6492240" y="4572000"/>
            <a:ext cx="822960" cy="8229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2" name="Text 20"/>
          <p:cNvSpPr/>
          <p:nvPr/>
        </p:nvSpPr>
        <p:spPr>
          <a:xfrm>
            <a:off x="7498080" y="4617720"/>
            <a:ext cx="3886200" cy="502920"/>
          </a:xfrm>
          <a:prstGeom prst="rect">
            <a:avLst/>
          </a:prstGeom>
          <a:noFill/>
          <a:ln/>
        </p:spPr>
        <p:txBody>
          <a:bodyPr wrap="square" rtlCol="0" anchor="t"/>
          <a:lstStyle/>
          <a:p>
            <a:pPr marL="0" indent="0">
              <a:buNone/>
            </a:pPr>
            <a:r>
              <a:rPr lang="en-US" sz="1900" b="1" dirty="0">
                <a:solidFill>
                  <a:srgbClr val="1E2761"/>
                </a:solidFill>
                <a:latin typeface="Cambria" pitchFamily="34" charset="0"/>
                <a:ea typeface="Cambria" pitchFamily="34" charset="-122"/>
                <a:cs typeface="Cambria" pitchFamily="34" charset="-120"/>
              </a:rPr>
              <a:t>Robotic sorting arms</a:t>
            </a:r>
            <a:endParaRPr lang="en-US" sz="1900" dirty="0"/>
          </a:p>
        </p:txBody>
      </p:sp>
      <p:sp>
        <p:nvSpPr>
          <p:cNvPr id="23" name="Text 21"/>
          <p:cNvSpPr/>
          <p:nvPr/>
        </p:nvSpPr>
        <p:spPr>
          <a:xfrm>
            <a:off x="6537960" y="5532120"/>
            <a:ext cx="4709160" cy="10058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Every pick-and-place operation takes time and mechanical wear. A predictable cap of n − 1 moves is valuable in production.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5"/>
        </a:solidFill>
        <a:effectLst/>
      </p:bgPr>
    </p:bg>
    <p:spTree>
      <p:nvGrpSpPr>
        <p:cNvPr id="1" name=""/>
        <p:cNvGrpSpPr/>
        <p:nvPr/>
      </p:nvGrpSpPr>
      <p:grpSpPr>
        <a:xfrm>
          <a:off x="0" y="0"/>
          <a:ext cx="0" cy="0"/>
          <a:chOff x="0" y="0"/>
          <a:chExt cx="0" cy="0"/>
        </a:xfrm>
      </p:grpSpPr>
      <p:sp>
        <p:nvSpPr>
          <p:cNvPr id="2" name="Text 0"/>
          <p:cNvSpPr/>
          <p:nvPr/>
        </p:nvSpPr>
        <p:spPr>
          <a:xfrm>
            <a:off x="731520" y="457200"/>
            <a:ext cx="109728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Complexity summary</a:t>
            </a:r>
            <a:endParaRPr lang="en-US" sz="3000" dirty="0"/>
          </a:p>
        </p:txBody>
      </p:sp>
      <p:sp>
        <p:nvSpPr>
          <p:cNvPr id="3" name="Text 1"/>
          <p:cNvSpPr/>
          <p:nvPr/>
        </p:nvSpPr>
        <p:spPr>
          <a:xfrm>
            <a:off x="731520" y="1005840"/>
            <a:ext cx="1097280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Predictable performance regardless of the input order.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02920">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solidFill>
                      <a:srgbClr val="CADCFC"/>
                    </a:solidFill>
                  </a:tcPr>
                </a:tc>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Comparisons</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solidFill>
                      <a:srgbClr val="CADCFC"/>
                    </a:solidFill>
                  </a:tcPr>
                </a:tc>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Swaps</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solidFill>
                      <a:srgbClr val="CADCFC"/>
                    </a:solidFill>
                  </a:tcPr>
                </a:tc>
                <a:tc>
                  <a:txBody>
                    <a:bodyPr/>
                    <a:lstStyle/>
                    <a:p>
                      <a:pPr marL="0" indent="0" algn="ctr">
                        <a:buNone/>
                      </a:pPr>
                      <a:r>
                        <a:rPr lang="en-US" sz="1400" b="1" dirty="0">
                          <a:solidFill>
                            <a:srgbClr val="1E2761"/>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solidFill>
                      <a:srgbClr val="CADCFC"/>
                    </a:solidFill>
                  </a:tcPr>
                </a:tc>
                <a:extLst>
                  <a:ext uri="{0D108BD9-81ED-4DB2-BD59-A6C34878D82A}">
                    <a16:rowId xmlns:a16="http://schemas.microsoft.com/office/drawing/2014/main" val="10000"/>
                  </a:ext>
                </a:extLst>
              </a:tr>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Best</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FFFFFF"/>
                          </a:solidFill>
                          <a:latin typeface="Consolas" pitchFamily="34" charset="0"/>
                          <a:ea typeface="Consolas" pitchFamily="34" charset="-122"/>
                          <a:cs typeface="Consolas" pitchFamily="34" charset="-120"/>
                        </a:rPr>
                        <a:t>O(n²)</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b="1" dirty="0">
                          <a:solidFill>
                            <a:srgbClr val="FFFFFF"/>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CADCFC"/>
                          </a:solidFill>
                          <a:latin typeface="Calibri" pitchFamily="34" charset="0"/>
                          <a:ea typeface="Calibri" pitchFamily="34" charset="-122"/>
                          <a:cs typeface="Calibri" pitchFamily="34" charset="-120"/>
                        </a:rPr>
                        <a:t>Already sorted, but scanning still happens</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Average</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FFFFFF"/>
                          </a:solidFill>
                          <a:latin typeface="Consolas" pitchFamily="34" charset="0"/>
                          <a:ea typeface="Consolas" pitchFamily="34" charset="-122"/>
                          <a:cs typeface="Consolas" pitchFamily="34" charset="-120"/>
                        </a:rPr>
                        <a:t>O(n²)</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b="1" dirty="0">
                          <a:solidFill>
                            <a:srgbClr val="FFFFFF"/>
                          </a:solidFill>
                          <a:latin typeface="Consolas" pitchFamily="34" charset="0"/>
                          <a:ea typeface="Consolas" pitchFamily="34" charset="-122"/>
                          <a:cs typeface="Consolas" pitchFamily="34" charset="-120"/>
                        </a:rPr>
                        <a:t>O(n)</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CADCFC"/>
                          </a:solidFill>
                          <a:latin typeface="Calibri" pitchFamily="34" charset="0"/>
                          <a:ea typeface="Calibri" pitchFamily="34" charset="-122"/>
                          <a:cs typeface="Calibri" pitchFamily="34" charset="-120"/>
                        </a:rPr>
                        <a:t>Typical random input</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Worst</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FFFFFF"/>
                          </a:solidFill>
                          <a:latin typeface="Consolas" pitchFamily="34" charset="0"/>
                          <a:ea typeface="Consolas" pitchFamily="34" charset="-122"/>
                          <a:cs typeface="Consolas" pitchFamily="34" charset="-120"/>
                        </a:rPr>
                        <a:t>O(n²)</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b="1" dirty="0">
                          <a:solidFill>
                            <a:srgbClr val="FFFFFF"/>
                          </a:solidFill>
                          <a:latin typeface="Consolas" pitchFamily="34" charset="0"/>
                          <a:ea typeface="Consolas" pitchFamily="34" charset="-122"/>
                          <a:cs typeface="Consolas" pitchFamily="34" charset="-120"/>
                        </a:rPr>
                        <a:t>n − 1</a:t>
                      </a:r>
                      <a:endParaRPr lang="en-US" sz="1400" dirty="0">
                        <a:latin typeface="Consolas" charset="0"/>
                        <a:ea typeface="Consolas" charset="0"/>
                        <a:cs typeface="Consolas"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tc>
                  <a:txBody>
                    <a:bodyPr/>
                    <a:lstStyle/>
                    <a:p>
                      <a:pPr marL="0" indent="0" algn="ctr">
                        <a:buNone/>
                      </a:pPr>
                      <a:r>
                        <a:rPr lang="en-US" sz="1400" dirty="0">
                          <a:solidFill>
                            <a:srgbClr val="CADCFC"/>
                          </a:solidFill>
                          <a:latin typeface="Calibri" pitchFamily="34" charset="0"/>
                          <a:ea typeface="Calibri" pitchFamily="34" charset="-122"/>
                          <a:cs typeface="Calibri" pitchFamily="34" charset="-120"/>
                        </a:rPr>
                        <a:t>Never exceeds n − 1 swaps</a:t>
                      </a:r>
                      <a:endParaRPr lang="en-US" sz="1400" dirty="0">
                        <a:latin typeface="Calibri" charset="0"/>
                        <a:ea typeface="Calibri" charset="0"/>
                        <a:cs typeface="Calibri" charset="0"/>
                      </a:endParaRPr>
                    </a:p>
                  </a:txBody>
                  <a:tcPr anchor="ctr">
                    <a:lnL w="6350" cap="flat" cmpd="sng" algn="ctr">
                      <a:solidFill>
                        <a:srgbClr val="3D4F8F"/>
                      </a:solidFill>
                      <a:prstDash val="solid"/>
                      <a:round/>
                      <a:headEnd type="none" w="med" len="med"/>
                      <a:tailEnd type="none" w="med" len="med"/>
                    </a:lnL>
                    <a:lnR w="6350" cap="flat" cmpd="sng" algn="ctr">
                      <a:solidFill>
                        <a:srgbClr val="3D4F8F"/>
                      </a:solidFill>
                      <a:prstDash val="solid"/>
                      <a:round/>
                      <a:headEnd type="none" w="med" len="med"/>
                      <a:tailEnd type="none" w="med" len="med"/>
                    </a:lnR>
                    <a:lnT w="6350" cap="flat" cmpd="sng" algn="ctr">
                      <a:solidFill>
                        <a:srgbClr val="3D4F8F"/>
                      </a:solidFill>
                      <a:prstDash val="solid"/>
                      <a:round/>
                      <a:headEnd type="none" w="med" len="med"/>
                      <a:tailEnd type="none" w="med" len="med"/>
                    </a:lnT>
                    <a:lnB w="6350" cap="flat" cmpd="sng" algn="ctr">
                      <a:solidFill>
                        <a:srgbClr val="3D4F8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31520" y="4114800"/>
            <a:ext cx="10698480" cy="2194560"/>
          </a:xfrm>
          <a:prstGeom prst="roundRect">
            <a:avLst>
              <a:gd name="adj" fmla="val 5000"/>
            </a:avLst>
          </a:prstGeom>
          <a:solidFill>
            <a:srgbClr val="1E2761"/>
          </a:solidFill>
          <a:ln w="12700">
            <a:solidFill>
              <a:srgbClr val="3D4F8F"/>
            </a:solidFill>
            <a:prstDash val="solid"/>
          </a:ln>
        </p:spPr>
      </p:sp>
      <p:sp>
        <p:nvSpPr>
          <p:cNvPr id="6" name="Text 3"/>
          <p:cNvSpPr/>
          <p:nvPr/>
        </p:nvSpPr>
        <p:spPr>
          <a:xfrm>
            <a:off x="1005840" y="4251960"/>
            <a:ext cx="10149840" cy="411480"/>
          </a:xfrm>
          <a:prstGeom prst="rect">
            <a:avLst/>
          </a:prstGeom>
          <a:noFill/>
          <a:ln/>
        </p:spPr>
        <p:txBody>
          <a:bodyPr wrap="square" rtlCol="0" anchor="ctr"/>
          <a:lstStyle/>
          <a:p>
            <a:pPr marL="0" indent="0">
              <a:buNone/>
            </a:pPr>
            <a:r>
              <a:rPr lang="en-US" sz="2000" b="1" dirty="0">
                <a:solidFill>
                  <a:srgbClr val="CADCFC"/>
                </a:solidFill>
                <a:latin typeface="Cambria" pitchFamily="34" charset="0"/>
                <a:ea typeface="Cambria" pitchFamily="34" charset="-122"/>
                <a:cs typeface="Cambria" pitchFamily="34" charset="-120"/>
              </a:rPr>
              <a:t>In conclusion</a:t>
            </a:r>
            <a:endParaRPr lang="en-US" sz="2000" dirty="0"/>
          </a:p>
        </p:txBody>
      </p:sp>
      <p:sp>
        <p:nvSpPr>
          <p:cNvPr id="7" name="Text 4"/>
          <p:cNvSpPr/>
          <p:nvPr/>
        </p:nvSpPr>
        <p:spPr>
          <a:xfrm>
            <a:off x="1005840" y="4709160"/>
            <a:ext cx="10149840" cy="1463040"/>
          </a:xfrm>
          <a:prstGeom prst="rect">
            <a:avLst/>
          </a:prstGeom>
          <a:noFill/>
          <a:ln/>
        </p:spPr>
        <p:txBody>
          <a:bodyPr wrap="square" rtlCol="0" anchor="t"/>
          <a:lstStyle/>
          <a:p>
            <a:pPr marL="0" indent="0">
              <a:buNone/>
            </a:pPr>
            <a:r>
              <a:rPr lang="en-US" sz="1500" dirty="0">
                <a:solidFill>
                  <a:srgbClr val="FFFFFF"/>
                </a:solidFill>
                <a:latin typeface="Calibri" pitchFamily="34" charset="0"/>
                <a:ea typeface="Calibri" pitchFamily="34" charset="-122"/>
                <a:cs typeface="Calibri" pitchFamily="34" charset="-120"/>
              </a:rPr>
              <a:t>Selection Sort captures a very natural human sorting strategy: find the smallest, put it aside, repeat. It is not the fastest algorithm for large data, but it is easy to explain, always predictable, and genuinely useful whenever the cost of moving data matters more than the cost of comparing.</a:t>
            </a:r>
            <a:endParaRPr lang="en-US" sz="1500" dirty="0"/>
          </a:p>
        </p:txBody>
      </p:sp>
      <p:sp>
        <p:nvSpPr>
          <p:cNvPr id="8" name="Text 5"/>
          <p:cNvSpPr/>
          <p:nvPr/>
        </p:nvSpPr>
        <p:spPr>
          <a:xfrm>
            <a:off x="731520" y="6400800"/>
            <a:ext cx="10972800" cy="365760"/>
          </a:xfrm>
          <a:prstGeom prst="rect">
            <a:avLst/>
          </a:prstGeom>
          <a:noFill/>
          <a:ln/>
        </p:spPr>
        <p:txBody>
          <a:bodyPr wrap="square" rtlCol="0" anchor="ctr"/>
          <a:lstStyle/>
          <a:p>
            <a:pPr marL="0" indent="0" algn="ctr">
              <a:buNone/>
            </a:pPr>
            <a:r>
              <a:rPr lang="en-US" sz="1600" i="1" dirty="0">
                <a:solidFill>
                  <a:srgbClr val="CADCFC"/>
                </a:solidFill>
                <a:latin typeface="Cambria" pitchFamily="34" charset="0"/>
                <a:ea typeface="Cambria" pitchFamily="34" charset="-122"/>
                <a:cs typeface="Cambria"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1422</Words>
  <Application>Microsoft Office PowerPoint</Application>
  <PresentationFormat>Widescreen</PresentationFormat>
  <Paragraphs>166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Selection Sort — Group 4</dc:title>
  <dc:subject>PptxGenJS Presentation</dc:subject>
  <dc:creator>Rothana, Dara, Deth, Lyheng, Samnang</dc:creator>
  <cp:lastModifiedBy>Rothana Xiao</cp:lastModifiedBy>
  <cp:revision>2</cp:revision>
  <dcterms:created xsi:type="dcterms:W3CDTF">2026-07-26T11:37:06Z</dcterms:created>
  <dcterms:modified xsi:type="dcterms:W3CDTF">2026-08-07T08:39:05Z</dcterms:modified>
</cp:coreProperties>
</file>